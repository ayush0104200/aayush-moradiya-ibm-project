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/>
    <p:restoredTop sz="94682"/>
  </p:normalViewPr>
  <p:slideViewPr>
    <p:cSldViewPr snapToObjects="1">
      <p:cViewPr varScale="1">
        <p:scale>
          <a:sx n="75" d="100"/>
          <a:sy n="75" d="100"/>
        </p:scale>
        <p:origin x="1920" y="4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13685-AF14-484C-8038-092966C6326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A34B3-16F2-44B1-B8E1-22F2D78D3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45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A34B3-16F2-44B1-B8E1-22F2D78D3E1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83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n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09424" y="1066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185335" y="1066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067689" y="1066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948526" y="1056067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835806" y="1056067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309424" y="2965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endParaRPr lang="en-GB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2196704" y="2965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072615" y="2965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952078" y="2965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7835806" y="2965563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endParaRPr lang="en-GB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09424" y="4876800"/>
            <a:ext cx="4561026" cy="14478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5056350" y="4876800"/>
            <a:ext cx="4533783" cy="14478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962400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5685201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7759700" y="381000"/>
            <a:ext cx="11557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9245600" y="381000"/>
            <a:ext cx="4127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54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C84F1C2-0B46-B162-FE42-C5225AD927A2}"/>
              </a:ext>
            </a:extLst>
          </p:cNvPr>
          <p:cNvSpPr/>
          <p:nvPr userDrawn="1"/>
        </p:nvSpPr>
        <p:spPr>
          <a:xfrm>
            <a:off x="244475" y="762000"/>
            <a:ext cx="9407525" cy="563880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027" name="TextBox 6">
            <a:extLst>
              <a:ext uri="{FF2B5EF4-FFF2-40B4-BE49-F238E27FC236}">
                <a16:creationId xmlns:a16="http://schemas.microsoft.com/office/drawing/2014/main" id="{F3BFAA12-12FD-C2F9-1E2C-BF97E57328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7650" y="304800"/>
            <a:ext cx="2063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600" b="1">
                <a:latin typeface="Arial" charset="0"/>
                <a:cs typeface="Arial" charset="0"/>
              </a:rPr>
              <a:t>The Lean Canvas</a:t>
            </a:r>
          </a:p>
        </p:txBody>
      </p:sp>
      <p:sp>
        <p:nvSpPr>
          <p:cNvPr id="1028" name="TextBox 7">
            <a:extLst>
              <a:ext uri="{FF2B5EF4-FFF2-40B4-BE49-F238E27FC236}">
                <a16:creationId xmlns:a16="http://schemas.microsoft.com/office/drawing/2014/main" id="{C2B8C91F-6C90-EA11-4093-EB80C3A8F6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60800" y="184150"/>
            <a:ext cx="14033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700" i="1"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1029" name="TextBox 8">
            <a:extLst>
              <a:ext uri="{FF2B5EF4-FFF2-40B4-BE49-F238E27FC236}">
                <a16:creationId xmlns:a16="http://schemas.microsoft.com/office/drawing/2014/main" id="{36CEB69F-27B7-52B0-2B0C-0DD4B9844B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586413" y="180975"/>
            <a:ext cx="14033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700" i="1">
                <a:latin typeface="Arial" charset="0"/>
                <a:cs typeface="Arial" charset="0"/>
              </a:rPr>
              <a:t>Designed by:</a:t>
            </a:r>
          </a:p>
        </p:txBody>
      </p:sp>
      <p:sp>
        <p:nvSpPr>
          <p:cNvPr id="1030" name="TextBox 9">
            <a:extLst>
              <a:ext uri="{FF2B5EF4-FFF2-40B4-BE49-F238E27FC236}">
                <a16:creationId xmlns:a16="http://schemas.microsoft.com/office/drawing/2014/main" id="{42C956DE-DB6E-5B0A-C12D-6D8FF7E7DDC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64450" y="180975"/>
            <a:ext cx="12144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700" i="1">
                <a:latin typeface="Arial" charset="0"/>
                <a:cs typeface="Arial" charset="0"/>
              </a:rPr>
              <a:t>Date:</a:t>
            </a:r>
          </a:p>
        </p:txBody>
      </p:sp>
      <p:sp>
        <p:nvSpPr>
          <p:cNvPr id="1031" name="TextBox 10">
            <a:extLst>
              <a:ext uri="{FF2B5EF4-FFF2-40B4-BE49-F238E27FC236}">
                <a16:creationId xmlns:a16="http://schemas.microsoft.com/office/drawing/2014/main" id="{E73D9424-159B-FAC8-84EF-B66615DF60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2413" y="180975"/>
            <a:ext cx="6207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700" i="1">
                <a:latin typeface="Arial" charset="0"/>
                <a:cs typeface="Arial" charset="0"/>
              </a:rPr>
              <a:t>Version:</a:t>
            </a:r>
          </a:p>
        </p:txBody>
      </p:sp>
      <p:sp>
        <p:nvSpPr>
          <p:cNvPr id="1032" name="TextBox 11">
            <a:extLst>
              <a:ext uri="{FF2B5EF4-FFF2-40B4-BE49-F238E27FC236}">
                <a16:creationId xmlns:a16="http://schemas.microsoft.com/office/drawing/2014/main" id="{9AE1E47F-F3DA-4262-21E9-7FE54A845B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" y="78898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Problem</a:t>
            </a:r>
          </a:p>
        </p:txBody>
      </p:sp>
      <p:sp>
        <p:nvSpPr>
          <p:cNvPr id="1033" name="TextBox 12">
            <a:extLst>
              <a:ext uri="{FF2B5EF4-FFF2-40B4-BE49-F238E27FC236}">
                <a16:creationId xmlns:a16="http://schemas.microsoft.com/office/drawing/2014/main" id="{DDE8EC7B-057E-B698-C102-3CEA872380A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" y="264953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Existing Alternatives</a:t>
            </a:r>
          </a:p>
        </p:txBody>
      </p:sp>
      <p:sp>
        <p:nvSpPr>
          <p:cNvPr id="1034" name="TextBox 13">
            <a:extLst>
              <a:ext uri="{FF2B5EF4-FFF2-40B4-BE49-F238E27FC236}">
                <a16:creationId xmlns:a16="http://schemas.microsoft.com/office/drawing/2014/main" id="{68D655AE-8B79-4DC9-EEF4-EC1C2E25EC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" y="4572000"/>
            <a:ext cx="17494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Cost Structure</a:t>
            </a:r>
          </a:p>
        </p:txBody>
      </p:sp>
      <p:sp>
        <p:nvSpPr>
          <p:cNvPr id="1035" name="TextBox 14">
            <a:extLst>
              <a:ext uri="{FF2B5EF4-FFF2-40B4-BE49-F238E27FC236}">
                <a16:creationId xmlns:a16="http://schemas.microsoft.com/office/drawing/2014/main" id="{A083B10B-4FBB-721E-C68A-39B73FB5972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24075" y="788988"/>
            <a:ext cx="17510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Solution</a:t>
            </a:r>
          </a:p>
        </p:txBody>
      </p:sp>
      <p:sp>
        <p:nvSpPr>
          <p:cNvPr id="1036" name="TextBox 15">
            <a:extLst>
              <a:ext uri="{FF2B5EF4-FFF2-40B4-BE49-F238E27FC236}">
                <a16:creationId xmlns:a16="http://schemas.microsoft.com/office/drawing/2014/main" id="{BCF70DB2-5222-8944-A207-6B880FB128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24075" y="2649538"/>
            <a:ext cx="17510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Key Metrics</a:t>
            </a:r>
          </a:p>
        </p:txBody>
      </p:sp>
      <p:sp>
        <p:nvSpPr>
          <p:cNvPr id="1037" name="TextBox 16">
            <a:extLst>
              <a:ext uri="{FF2B5EF4-FFF2-40B4-BE49-F238E27FC236}">
                <a16:creationId xmlns:a16="http://schemas.microsoft.com/office/drawing/2014/main" id="{BD346FC0-6CC4-6870-D8FC-E1E4793CF2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25900" y="78898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Unique Value Prop.</a:t>
            </a:r>
          </a:p>
        </p:txBody>
      </p:sp>
      <p:sp>
        <p:nvSpPr>
          <p:cNvPr id="1038" name="TextBox 17">
            <a:extLst>
              <a:ext uri="{FF2B5EF4-FFF2-40B4-BE49-F238E27FC236}">
                <a16:creationId xmlns:a16="http://schemas.microsoft.com/office/drawing/2014/main" id="{1E83E6FB-5A20-3F84-0BFE-53737A4B7C1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25900" y="264953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High-Level Concept</a:t>
            </a:r>
          </a:p>
        </p:txBody>
      </p:sp>
      <p:sp>
        <p:nvSpPr>
          <p:cNvPr id="1039" name="TextBox 18">
            <a:extLst>
              <a:ext uri="{FF2B5EF4-FFF2-40B4-BE49-F238E27FC236}">
                <a16:creationId xmlns:a16="http://schemas.microsoft.com/office/drawing/2014/main" id="{FAF2C10C-9DA3-FACC-1AAD-ED7852F517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19788" y="78263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Unfair Advantage</a:t>
            </a:r>
          </a:p>
        </p:txBody>
      </p:sp>
      <p:sp>
        <p:nvSpPr>
          <p:cNvPr id="1040" name="TextBox 19">
            <a:extLst>
              <a:ext uri="{FF2B5EF4-FFF2-40B4-BE49-F238E27FC236}">
                <a16:creationId xmlns:a16="http://schemas.microsoft.com/office/drawing/2014/main" id="{FCB6FF1F-0A24-F20B-973C-FB680FEE38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19788" y="2643188"/>
            <a:ext cx="17494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Channels</a:t>
            </a:r>
          </a:p>
        </p:txBody>
      </p:sp>
      <p:sp>
        <p:nvSpPr>
          <p:cNvPr id="1041" name="TextBox 20">
            <a:extLst>
              <a:ext uri="{FF2B5EF4-FFF2-40B4-BE49-F238E27FC236}">
                <a16:creationId xmlns:a16="http://schemas.microsoft.com/office/drawing/2014/main" id="{027A9CAF-E9CA-12C9-24CB-2672E2DC5D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8438" y="78898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Customer Segments</a:t>
            </a:r>
          </a:p>
        </p:txBody>
      </p:sp>
      <p:sp>
        <p:nvSpPr>
          <p:cNvPr id="1042" name="TextBox 21">
            <a:extLst>
              <a:ext uri="{FF2B5EF4-FFF2-40B4-BE49-F238E27FC236}">
                <a16:creationId xmlns:a16="http://schemas.microsoft.com/office/drawing/2014/main" id="{F991EE49-93D4-33CC-9329-70711BE67C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8438" y="264953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Early Adopters</a:t>
            </a:r>
          </a:p>
        </p:txBody>
      </p:sp>
      <p:sp>
        <p:nvSpPr>
          <p:cNvPr id="1043" name="TextBox 22">
            <a:extLst>
              <a:ext uri="{FF2B5EF4-FFF2-40B4-BE49-F238E27FC236}">
                <a16:creationId xmlns:a16="http://schemas.microsoft.com/office/drawing/2014/main" id="{FB24E147-5720-FD26-54BD-431C0C212B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73638" y="4572000"/>
            <a:ext cx="17494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Revenue Streams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6A5FBE-559C-E63B-A39E-C07A2C88CB16}"/>
              </a:ext>
            </a:extLst>
          </p:cNvPr>
          <p:cNvSpPr/>
          <p:nvPr userDrawn="1"/>
        </p:nvSpPr>
        <p:spPr>
          <a:xfrm>
            <a:off x="244475" y="762000"/>
            <a:ext cx="1879600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734D1C-730D-7D75-E426-BB0DDDD03E93}"/>
              </a:ext>
            </a:extLst>
          </p:cNvPr>
          <p:cNvSpPr/>
          <p:nvPr userDrawn="1"/>
        </p:nvSpPr>
        <p:spPr>
          <a:xfrm>
            <a:off x="2124075" y="760413"/>
            <a:ext cx="1881188" cy="18827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3E5E55-A991-22FA-62D5-EB920F2D67F6}"/>
              </a:ext>
            </a:extLst>
          </p:cNvPr>
          <p:cNvSpPr/>
          <p:nvPr userDrawn="1"/>
        </p:nvSpPr>
        <p:spPr>
          <a:xfrm>
            <a:off x="2124075" y="2643188"/>
            <a:ext cx="1881188" cy="1928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6679BD-3E20-C2D2-EC5D-1CA11EAB9649}"/>
              </a:ext>
            </a:extLst>
          </p:cNvPr>
          <p:cNvSpPr/>
          <p:nvPr userDrawn="1"/>
        </p:nvSpPr>
        <p:spPr>
          <a:xfrm>
            <a:off x="4005263" y="762000"/>
            <a:ext cx="1879600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222894-960C-0E63-B68C-46ACC744AB4D}"/>
              </a:ext>
            </a:extLst>
          </p:cNvPr>
          <p:cNvSpPr/>
          <p:nvPr userDrawn="1"/>
        </p:nvSpPr>
        <p:spPr>
          <a:xfrm>
            <a:off x="5884863" y="762000"/>
            <a:ext cx="1879600" cy="18827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535D2E-F45E-A274-780B-8D8CA251FC19}"/>
              </a:ext>
            </a:extLst>
          </p:cNvPr>
          <p:cNvSpPr/>
          <p:nvPr userDrawn="1"/>
        </p:nvSpPr>
        <p:spPr>
          <a:xfrm>
            <a:off x="5884863" y="2643188"/>
            <a:ext cx="1879600" cy="1928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85E534-21B9-9382-2D95-C4FB98D10774}"/>
              </a:ext>
            </a:extLst>
          </p:cNvPr>
          <p:cNvSpPr/>
          <p:nvPr userDrawn="1"/>
        </p:nvSpPr>
        <p:spPr>
          <a:xfrm>
            <a:off x="7770813" y="762000"/>
            <a:ext cx="1881187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03B74E-33DE-3416-7B08-A9A305E0CC40}"/>
              </a:ext>
            </a:extLst>
          </p:cNvPr>
          <p:cNvSpPr/>
          <p:nvPr userDrawn="1"/>
        </p:nvSpPr>
        <p:spPr>
          <a:xfrm>
            <a:off x="244475" y="4579938"/>
            <a:ext cx="4713288" cy="18208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EFD34B-CD71-5262-AF49-3809DB874A52}"/>
              </a:ext>
            </a:extLst>
          </p:cNvPr>
          <p:cNvSpPr/>
          <p:nvPr userDrawn="1"/>
        </p:nvSpPr>
        <p:spPr>
          <a:xfrm>
            <a:off x="4957763" y="4579938"/>
            <a:ext cx="4692650" cy="18208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1053" name="Picture 37" descr="channels.png">
            <a:extLst>
              <a:ext uri="{FF2B5EF4-FFF2-40B4-BE49-F238E27FC236}">
                <a16:creationId xmlns:a16="http://schemas.microsoft.com/office/drawing/2014/main" id="{9BF5487E-C325-C02B-260C-00849D4DC6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13" y="2625725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" name="Picture 38" descr="cost-structure.png">
            <a:extLst>
              <a:ext uri="{FF2B5EF4-FFF2-40B4-BE49-F238E27FC236}">
                <a16:creationId xmlns:a16="http://schemas.microsoft.com/office/drawing/2014/main" id="{213590D6-C309-DA16-1847-B27AF7DBCA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338" y="457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9" descr="customer-segments.png">
            <a:extLst>
              <a:ext uri="{FF2B5EF4-FFF2-40B4-BE49-F238E27FC236}">
                <a16:creationId xmlns:a16="http://schemas.microsoft.com/office/drawing/2014/main" id="{89C148CA-D10B-05B3-13E0-0433C61510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25" y="76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40" descr="early-adopters.png">
            <a:extLst>
              <a:ext uri="{FF2B5EF4-FFF2-40B4-BE49-F238E27FC236}">
                <a16:creationId xmlns:a16="http://schemas.microsoft.com/office/drawing/2014/main" id="{CC999145-59CB-5894-221C-B5EA8C52A17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25" y="2606675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7" name="Picture 41" descr="existing-alternatives.png">
            <a:extLst>
              <a:ext uri="{FF2B5EF4-FFF2-40B4-BE49-F238E27FC236}">
                <a16:creationId xmlns:a16="http://schemas.microsoft.com/office/drawing/2014/main" id="{6DE2CA3A-450F-0ABE-E66D-83443691CBC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625725"/>
            <a:ext cx="2873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8" name="Picture 42" descr="high-level-concept.png">
            <a:extLst>
              <a:ext uri="{FF2B5EF4-FFF2-40B4-BE49-F238E27FC236}">
                <a16:creationId xmlns:a16="http://schemas.microsoft.com/office/drawing/2014/main" id="{1A62DAF1-A9A6-973B-9C40-C4C46AE2241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438" y="2625725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9" name="Picture 44" descr="key-metrics.png">
            <a:extLst>
              <a:ext uri="{FF2B5EF4-FFF2-40B4-BE49-F238E27FC236}">
                <a16:creationId xmlns:a16="http://schemas.microsoft.com/office/drawing/2014/main" id="{F67CA98B-2CBE-5467-9559-CB04BF6E3AF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2625725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0" name="Picture 45" descr="problem.png">
            <a:extLst>
              <a:ext uri="{FF2B5EF4-FFF2-40B4-BE49-F238E27FC236}">
                <a16:creationId xmlns:a16="http://schemas.microsoft.com/office/drawing/2014/main" id="{8B9AB40E-517C-B9A7-5232-C81C0CA83D8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62000"/>
            <a:ext cx="2873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1" name="Picture 46" descr="revenue-streams.png">
            <a:extLst>
              <a:ext uri="{FF2B5EF4-FFF2-40B4-BE49-F238E27FC236}">
                <a16:creationId xmlns:a16="http://schemas.microsoft.com/office/drawing/2014/main" id="{D3F58C26-4A8B-7F5A-CE2B-3E0DF781315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25" y="457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2" name="Picture 47" descr="solution.png">
            <a:extLst>
              <a:ext uri="{FF2B5EF4-FFF2-40B4-BE49-F238E27FC236}">
                <a16:creationId xmlns:a16="http://schemas.microsoft.com/office/drawing/2014/main" id="{7F934967-AE1E-735B-4F0F-9FBFC877D8F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76835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3" name="Picture 48" descr="unfair-advantage.png">
            <a:extLst>
              <a:ext uri="{FF2B5EF4-FFF2-40B4-BE49-F238E27FC236}">
                <a16:creationId xmlns:a16="http://schemas.microsoft.com/office/drawing/2014/main" id="{49869DB2-5653-932E-3A08-DB00E221688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13" y="76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4" name="Picture 49" descr="unique-value-proposition.png">
            <a:extLst>
              <a:ext uri="{FF2B5EF4-FFF2-40B4-BE49-F238E27FC236}">
                <a16:creationId xmlns:a16="http://schemas.microsoft.com/office/drawing/2014/main" id="{7C9CBF37-60F2-D528-A508-62C4C5540F1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438" y="76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Text Placeholder 52">
            <a:extLst>
              <a:ext uri="{FF2B5EF4-FFF2-40B4-BE49-F238E27FC236}">
                <a16:creationId xmlns:a16="http://schemas.microsoft.com/office/drawing/2014/main" id="{9EB42E21-3DEB-5E98-967A-6101401DE4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buAutoNum type="arabicPeriod"/>
            </a:pPr>
            <a:r>
              <a:rPr lang="en-IN" sz="650" dirty="0"/>
              <a:t>Lack of personalized learning: Every student learns at a different speed, but traditional teaching methods may not provide individual explanations for every learner.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650" dirty="0" err="1"/>
              <a:t>DifficultStudents</a:t>
            </a:r>
            <a:r>
              <a:rPr lang="en-IN" sz="650" dirty="0"/>
              <a:t> may struggle with difficult topics and need simpler explanations, y understanding concepts: practical examples, and step-by-step guidance.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650" dirty="0"/>
              <a:t>Limited immediate feedback: Students sometimes complete practice questions without understanding why their answers are incorrect.</a:t>
            </a:r>
          </a:p>
        </p:txBody>
      </p:sp>
      <p:sp>
        <p:nvSpPr>
          <p:cNvPr id="2050" name="Text Placeholder 53">
            <a:extLst>
              <a:ext uri="{FF2B5EF4-FFF2-40B4-BE49-F238E27FC236}">
                <a16:creationId xmlns:a16="http://schemas.microsoft.com/office/drawing/2014/main" id="{3BE7DC66-590D-34A6-AD07-C82F1B1DB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AI-powered explanations: Students enter a topic and receive a structured explanation with examples in simple language.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Personalized quizzes: The system provides practice questions based on the selected topic and learning level.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Instant feedback: Students receive their scores, correct answers, and explanations of mistakes.</a:t>
            </a:r>
          </a:p>
        </p:txBody>
      </p:sp>
      <p:sp>
        <p:nvSpPr>
          <p:cNvPr id="2051" name="Text Placeholder 54">
            <a:extLst>
              <a:ext uri="{FF2B5EF4-FFF2-40B4-BE49-F238E27FC236}">
                <a16:creationId xmlns:a16="http://schemas.microsoft.com/office/drawing/2014/main" id="{4F72CEF1-1748-2A14-4C58-ADC8D62E0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Personalized explanations instead of relying only on generic learning material.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Practice questions with immediate feedback.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Revision suggestions based on quiz performance.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A simple interface suitable for independent learners.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Potential support for multiple subjects and regional languages.</a:t>
            </a:r>
          </a:p>
        </p:txBody>
      </p:sp>
      <p:sp>
        <p:nvSpPr>
          <p:cNvPr id="2052" name="Text Placeholder 55">
            <a:extLst>
              <a:ext uri="{FF2B5EF4-FFF2-40B4-BE49-F238E27FC236}">
                <a16:creationId xmlns:a16="http://schemas.microsoft.com/office/drawing/2014/main" id="{BB9A4103-6491-9D2C-2E75-6AFA70A5D3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Curriculum-aligned learning content: Explanations and quizzes can be organized around the subjects and syllabuses used by target schools and colleges.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Personalized learning recommendations: Quiz results can be used to recommend specific topics for revision.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700" dirty="0"/>
              <a:t>Student-friendly explanations: Content can be designed for different levels of understanding, with examples relevant to learners.</a:t>
            </a:r>
          </a:p>
        </p:txBody>
      </p:sp>
      <p:sp>
        <p:nvSpPr>
          <p:cNvPr id="2053" name="Text Placeholder 56">
            <a:extLst>
              <a:ext uri="{FF2B5EF4-FFF2-40B4-BE49-F238E27FC236}">
                <a16:creationId xmlns:a16="http://schemas.microsoft.com/office/drawing/2014/main" id="{9DCB60E2-C15C-0755-F4AC-1FA2D622F8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700" b="1" dirty="0"/>
              <a:t>Primary customer segment</a:t>
            </a:r>
          </a:p>
          <a:p>
            <a:pPr lvl="0"/>
            <a:r>
              <a:rPr lang="en-IN" sz="700" dirty="0"/>
              <a:t>Secondary and higher-secondary school students.</a:t>
            </a:r>
          </a:p>
          <a:p>
            <a:pPr lvl="0"/>
            <a:r>
              <a:rPr lang="en-IN" sz="700" dirty="0"/>
              <a:t>College students who need additional explanations and practice.</a:t>
            </a:r>
          </a:p>
          <a:p>
            <a:pPr lvl="0"/>
            <a:r>
              <a:rPr lang="en-IN" sz="700" dirty="0"/>
              <a:t>Students preparing for academic examinations.</a:t>
            </a:r>
          </a:p>
          <a:p>
            <a:r>
              <a:rPr lang="en-IN" sz="700" b="1" dirty="0"/>
              <a:t>Secondary customer segment</a:t>
            </a:r>
          </a:p>
          <a:p>
            <a:pPr lvl="0"/>
            <a:r>
              <a:rPr lang="en-IN" sz="700" dirty="0"/>
              <a:t>Teachers who want to provide supplementary practice.</a:t>
            </a:r>
          </a:p>
          <a:p>
            <a:pPr lvl="0"/>
            <a:r>
              <a:rPr lang="en-IN" sz="700" dirty="0"/>
              <a:t>Private tutors and coaching centres.</a:t>
            </a:r>
          </a:p>
          <a:p>
            <a:pPr lvl="0"/>
            <a:r>
              <a:rPr lang="en-IN" sz="700" dirty="0"/>
              <a:t>Schools and colleges interested in digital learning support.</a:t>
            </a:r>
          </a:p>
        </p:txBody>
      </p:sp>
      <p:sp>
        <p:nvSpPr>
          <p:cNvPr id="2054" name="Text Placeholder 57">
            <a:extLst>
              <a:ext uri="{FF2B5EF4-FFF2-40B4-BE49-F238E27FC236}">
                <a16:creationId xmlns:a16="http://schemas.microsoft.com/office/drawing/2014/main" id="{2C957823-F770-D6FB-72AF-107DED059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 dirty="0"/>
              <a:t>Traditional classroom teaching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 dirty="0"/>
              <a:t>Textbooks and study notes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 dirty="0"/>
              <a:t>YouTube educational videos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 dirty="0"/>
              <a:t>Online learning platforms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 dirty="0"/>
              <a:t>Private tuition and coaching classes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800" dirty="0"/>
              <a:t>General-purpose AI chatbots</a:t>
            </a:r>
          </a:p>
          <a:p>
            <a:pPr eaLnBrk="1" hangingPunct="1"/>
            <a:endParaRPr lang="en-GB" altLang="en-US" sz="6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5" name="Text Placeholder 58">
            <a:extLst>
              <a:ext uri="{FF2B5EF4-FFF2-40B4-BE49-F238E27FC236}">
                <a16:creationId xmlns:a16="http://schemas.microsoft.com/office/drawing/2014/main" id="{6A3978B2-CCFD-850D-C6E9-E3AD246588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700" dirty="0"/>
              <a:t>1. Personalized Learning: Provides learning support according to students’ needs, understanding levels, and quiz performance.</a:t>
            </a:r>
          </a:p>
          <a:p>
            <a:r>
              <a:rPr lang="en-IN" sz="700" dirty="0"/>
              <a:t>2. AI-Powered Assistance: Uses artificial intelligence to explain concepts and answer learning-related questions.</a:t>
            </a:r>
          </a:p>
          <a:p>
            <a:r>
              <a:rPr lang="en-IN" sz="700" dirty="0"/>
              <a:t>3. Interactive Quizzes: Offers practice questions to test students’ knowledge and understanding.</a:t>
            </a:r>
          </a:p>
          <a:p>
            <a:r>
              <a:rPr lang="en-IN" sz="700" dirty="0"/>
              <a:t>4. Instant Feedback: Provides quiz results, correct answers, and explanations of mistakes.</a:t>
            </a:r>
          </a:p>
        </p:txBody>
      </p:sp>
      <p:sp>
        <p:nvSpPr>
          <p:cNvPr id="2056" name="Text Placeholder 59">
            <a:extLst>
              <a:ext uri="{FF2B5EF4-FFF2-40B4-BE49-F238E27FC236}">
                <a16:creationId xmlns:a16="http://schemas.microsoft.com/office/drawing/2014/main" id="{886A9CB8-A73F-1C02-A75B-17FCAAB2EF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700" dirty="0"/>
              <a:t>Learn</a:t>
            </a:r>
          </a:p>
          <a:p>
            <a:r>
              <a:rPr lang="en-IN" sz="700" dirty="0"/>
              <a:t>Understand topics through explanations and examples.</a:t>
            </a:r>
          </a:p>
          <a:p>
            <a:r>
              <a:rPr lang="en-IN" sz="700" dirty="0"/>
              <a:t>Practise</a:t>
            </a:r>
          </a:p>
          <a:p>
            <a:r>
              <a:rPr lang="en-IN" sz="700" dirty="0"/>
              <a:t>Answer questions and test understanding.</a:t>
            </a:r>
          </a:p>
          <a:p>
            <a:r>
              <a:rPr lang="en-IN" sz="700" dirty="0"/>
              <a:t>Improve</a:t>
            </a:r>
          </a:p>
          <a:p>
            <a:r>
              <a:rPr lang="en-IN" sz="700" dirty="0"/>
              <a:t>Review mistakes and follow suggested revision topics.</a:t>
            </a:r>
          </a:p>
          <a:p>
            <a:r>
              <a:rPr lang="en-IN" sz="700" dirty="0"/>
              <a:t>Track progress</a:t>
            </a:r>
          </a:p>
          <a:p>
            <a:r>
              <a:rPr lang="en-IN" sz="700" dirty="0"/>
              <a:t>Monitor completed lessons, scores, and learning activity.</a:t>
            </a:r>
          </a:p>
        </p:txBody>
      </p:sp>
      <p:sp>
        <p:nvSpPr>
          <p:cNvPr id="2057" name="Text Placeholder 60">
            <a:extLst>
              <a:ext uri="{FF2B5EF4-FFF2-40B4-BE49-F238E27FC236}">
                <a16:creationId xmlns:a16="http://schemas.microsoft.com/office/drawing/2014/main" id="{7D8183E9-0119-A7FF-9959-7A0F08F66B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700" dirty="0"/>
              <a:t>Digital channels</a:t>
            </a:r>
          </a:p>
          <a:p>
            <a:pPr lvl="0"/>
            <a:r>
              <a:rPr lang="en-IN" sz="700" dirty="0"/>
              <a:t>Project website and web application.</a:t>
            </a:r>
          </a:p>
          <a:p>
            <a:pPr lvl="0"/>
            <a:r>
              <a:rPr lang="en-IN" sz="700" dirty="0"/>
              <a:t>Educational posts and demonstrations on social media.</a:t>
            </a:r>
          </a:p>
          <a:p>
            <a:pPr lvl="0"/>
            <a:r>
              <a:rPr lang="en-IN" sz="700" dirty="0"/>
              <a:t>Student communities and online learning groups.</a:t>
            </a:r>
          </a:p>
          <a:p>
            <a:r>
              <a:rPr lang="en-IN" sz="700" dirty="0"/>
              <a:t>Educational channels</a:t>
            </a:r>
          </a:p>
          <a:p>
            <a:pPr lvl="0"/>
            <a:r>
              <a:rPr lang="en-IN" sz="700" dirty="0"/>
              <a:t>Demonstrations at schools and colleges.</a:t>
            </a:r>
          </a:p>
          <a:p>
            <a:pPr lvl="0"/>
            <a:r>
              <a:rPr lang="en-IN" sz="700" dirty="0"/>
              <a:t>Presentations to faculty members and educators.</a:t>
            </a:r>
          </a:p>
          <a:p>
            <a:pPr lvl="0"/>
            <a:r>
              <a:rPr lang="en-IN" sz="700" dirty="0"/>
              <a:t>Student clubs and technology communities.</a:t>
            </a:r>
          </a:p>
          <a:p>
            <a:pPr lvl="0"/>
            <a:endParaRPr lang="en-IN" sz="700" dirty="0"/>
          </a:p>
        </p:txBody>
      </p:sp>
      <p:sp>
        <p:nvSpPr>
          <p:cNvPr id="2058" name="Text Placeholder 61">
            <a:extLst>
              <a:ext uri="{FF2B5EF4-FFF2-40B4-BE49-F238E27FC236}">
                <a16:creationId xmlns:a16="http://schemas.microsoft.com/office/drawing/2014/main" id="{45939F40-8A5D-5CEC-17B8-D7029CFEF5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700" dirty="0"/>
              <a:t>Early adopters are the first users likely to try the platform and provide feedback.</a:t>
            </a:r>
          </a:p>
          <a:p>
            <a:pPr lvl="0"/>
            <a:r>
              <a:rPr lang="en-IN" sz="700" dirty="0"/>
              <a:t>Students already using online learning platforms.</a:t>
            </a:r>
          </a:p>
          <a:p>
            <a:pPr lvl="0"/>
            <a:r>
              <a:rPr lang="en-IN" sz="700" dirty="0"/>
              <a:t>College students interested in AI-based educational tools.</a:t>
            </a:r>
          </a:p>
          <a:p>
            <a:pPr lvl="0"/>
            <a:r>
              <a:rPr lang="en-IN" sz="700" dirty="0"/>
              <a:t>Learners who regularly use online quizzes.</a:t>
            </a:r>
          </a:p>
          <a:p>
            <a:pPr lvl="0"/>
            <a:r>
              <a:rPr lang="en-IN" sz="700" dirty="0"/>
              <a:t>Teachers interested in experimenting with personalized learning technology.</a:t>
            </a:r>
          </a:p>
          <a:p>
            <a:pPr eaLnBrk="1" hangingPunct="1"/>
            <a:b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60" name="Text Placeholder 63">
            <a:extLst>
              <a:ext uri="{FF2B5EF4-FFF2-40B4-BE49-F238E27FC236}">
                <a16:creationId xmlns:a16="http://schemas.microsoft.com/office/drawing/2014/main" id="{DF45C4D1-9FB6-4312-4D2E-612D8640ED9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N" sz="700" dirty="0"/>
              <a:t>Freemium model: Basic explanations and quizzes are free, while optional advanced features may require payment.</a:t>
            </a:r>
          </a:p>
          <a:p>
            <a:pPr lvl="0"/>
            <a:r>
              <a:rPr lang="en-IN" sz="700" dirty="0"/>
              <a:t>Premium subscription: Learners pay for additional practice, expanded topic coverage, or advanced progress tools.</a:t>
            </a:r>
          </a:p>
          <a:p>
            <a:pPr lvl="0"/>
            <a:r>
              <a:rPr lang="en-IN" sz="700" dirty="0"/>
              <a:t>Institutional subscriptions: Schools and colleges pay for access to learning tools for their students.</a:t>
            </a:r>
          </a:p>
          <a:p>
            <a:pPr lvl="0"/>
            <a:r>
              <a:rPr lang="en-IN" sz="700" dirty="0"/>
              <a:t>Educational partnerships: Tutoring centres or educational organizations pay for suitable platform access or services.</a:t>
            </a:r>
          </a:p>
          <a:p>
            <a:pPr lvl="0"/>
            <a:r>
              <a:rPr lang="en-IN" sz="700" dirty="0"/>
              <a:t>Sponsored access or grants: Education-focused organizations may fund access for learners who need additional support.</a:t>
            </a:r>
          </a:p>
        </p:txBody>
      </p:sp>
      <p:sp>
        <p:nvSpPr>
          <p:cNvPr id="2061" name="Text Placeholder 64">
            <a:extLst>
              <a:ext uri="{FF2B5EF4-FFF2-40B4-BE49-F238E27FC236}">
                <a16:creationId xmlns:a16="http://schemas.microsoft.com/office/drawing/2014/main" id="{A8B65CBC-4801-2011-2EDE-1CDA3184ABD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AI Learning Tutor</a:t>
            </a:r>
          </a:p>
        </p:txBody>
      </p:sp>
      <p:sp>
        <p:nvSpPr>
          <p:cNvPr id="2062" name="Text Placeholder 65">
            <a:extLst>
              <a:ext uri="{FF2B5EF4-FFF2-40B4-BE49-F238E27FC236}">
                <a16:creationId xmlns:a16="http://schemas.microsoft.com/office/drawing/2014/main" id="{BF6D44DF-B86D-2FB7-4B75-260991E1D3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Aayush </a:t>
            </a:r>
            <a:r>
              <a:rPr lang="en-GB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Moradiya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63" name="Text Placeholder 66">
            <a:extLst>
              <a:ext uri="{FF2B5EF4-FFF2-40B4-BE49-F238E27FC236}">
                <a16:creationId xmlns:a16="http://schemas.microsoft.com/office/drawing/2014/main" id="{51CBA239-DF76-D4D8-7530-9EBBE36DA8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09/10/2026</a:t>
            </a:r>
          </a:p>
        </p:txBody>
      </p:sp>
      <p:sp>
        <p:nvSpPr>
          <p:cNvPr id="2064" name="Text Placeholder 67">
            <a:extLst>
              <a:ext uri="{FF2B5EF4-FFF2-40B4-BE49-F238E27FC236}">
                <a16:creationId xmlns:a16="http://schemas.microsoft.com/office/drawing/2014/main" id="{05454115-7289-DE9A-7842-38533E5661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1.0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7A84BD-9487-CB87-B5F4-B82E8433671B}"/>
              </a:ext>
            </a:extLst>
          </p:cNvPr>
          <p:cNvSpPr txBox="1"/>
          <p:nvPr/>
        </p:nvSpPr>
        <p:spPr>
          <a:xfrm>
            <a:off x="3787140" y="27584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05E35A-BBB7-B4AE-69FF-0FBD4C37D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410017"/>
              </p:ext>
            </p:extLst>
          </p:nvPr>
        </p:nvGraphicFramePr>
        <p:xfrm>
          <a:off x="309424" y="4804200"/>
          <a:ext cx="4338637" cy="151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3380">
                  <a:extLst>
                    <a:ext uri="{9D8B030D-6E8A-4147-A177-3AD203B41FA5}">
                      <a16:colId xmlns:a16="http://schemas.microsoft.com/office/drawing/2014/main" val="486049755"/>
                    </a:ext>
                  </a:extLst>
                </a:gridCol>
                <a:gridCol w="3395257">
                  <a:extLst>
                    <a:ext uri="{9D8B030D-6E8A-4147-A177-3AD203B41FA5}">
                      <a16:colId xmlns:a16="http://schemas.microsoft.com/office/drawing/2014/main" val="3823783278"/>
                    </a:ext>
                  </a:extLst>
                </a:gridCol>
              </a:tblGrid>
              <a:tr h="164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Cost category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Details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862617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Development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Frontend, backend, database, and application development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097318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AI services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AI API usage for explanations and learning assistance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849623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Hosting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Web hosting, backend deployment, and database hosting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679128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Educational content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Creating and reviewing explanations, examples, and quizzes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516863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Testing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Functional testing, usability testing, and quality assurance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999620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Security and privacy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Secure authentication, access controls, and responsible data handling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02693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Maintenance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Bug fixes, updates, performance improvements, and support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213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342</TotalTime>
  <Words>653</Words>
  <Application>Microsoft Office PowerPoint</Application>
  <PresentationFormat>A4 Paper (210x297 mm)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>Neos Chronos Limited</Company>
  <LinksUpToDate>false</LinksUpToDate>
  <SharedDoc>false</SharedDoc>
  <HyperlinkBase>https://neoschronos.com/assets/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Canvas Template PPT</dc:title>
  <dc:subject/>
  <dc:creator>Thomas Papanikolaou</dc:creator>
  <cp:keywords>Lean Canvas, Template, Powerpoint, ppt, pptx, English, Free</cp:keywords>
  <dc:description>Lean Canvas is adapted from The Business Model Canvas (www.businessmodelgeneration.com/canvas). This work is licensed under the Creative Commons Attribution-Share Alike 3.0 Unported License.</dc:description>
  <cp:lastModifiedBy>MORADIYA AAYUSH</cp:lastModifiedBy>
  <cp:revision>44</cp:revision>
  <cp:lastPrinted>2019-04-01T19:25:48Z</cp:lastPrinted>
  <dcterms:created xsi:type="dcterms:W3CDTF">2019-04-01T16:49:19Z</dcterms:created>
  <dcterms:modified xsi:type="dcterms:W3CDTF">2026-10-09T09:29:07Z</dcterms:modified>
  <cp:category>PowerPoint Template PPT</cp:category>
</cp:coreProperties>
</file>