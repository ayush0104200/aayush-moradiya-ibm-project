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224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16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914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13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35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648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2542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5554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2484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25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545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59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99416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616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733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302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5043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2177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12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26365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611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50756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209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5636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996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239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2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9769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6800" y="0"/>
            <a:ext cx="3504895" cy="18288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692640" y="1828800"/>
            <a:ext cx="2499055" cy="13716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AI Learning Tutor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6858000" cy="15388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100" b="0">
                <a:solidFill>
                  <a:srgbClr val="DCE8F2"/>
                </a:solidFill>
                <a:latin typeface="Aptos"/>
              </a:defRPr>
            </a:pPr>
            <a:r>
              <a:rPr dirty="0"/>
              <a:t>An AI-powered personalized learning assistant for students</a:t>
            </a:r>
            <a:endParaRPr lang="en-IN" dirty="0"/>
          </a:p>
          <a:p>
            <a:pPr algn="l">
              <a:spcAft>
                <a:spcPts val="600"/>
              </a:spcAft>
              <a:defRPr sz="2100" b="0">
                <a:solidFill>
                  <a:srgbClr val="DCE8F2"/>
                </a:solidFill>
                <a:latin typeface="Aptos"/>
              </a:defRPr>
            </a:pPr>
            <a:endParaRPr lang="en-IN" dirty="0"/>
          </a:p>
          <a:p>
            <a:pPr algn="l">
              <a:spcAft>
                <a:spcPts val="600"/>
              </a:spcAft>
              <a:defRPr sz="2100" b="0">
                <a:solidFill>
                  <a:srgbClr val="DCE8F2"/>
                </a:solidFill>
                <a:latin typeface="Aptos"/>
              </a:defRPr>
            </a:pPr>
            <a:r>
              <a:rPr lang="en-IN" dirty="0"/>
              <a:t>Name: </a:t>
            </a:r>
            <a:r>
              <a:rPr lang="en-IN" dirty="0" err="1"/>
              <a:t>Moradiya</a:t>
            </a:r>
            <a:r>
              <a:rPr lang="en-IN" dirty="0"/>
              <a:t> Aayush </a:t>
            </a:r>
            <a:r>
              <a:rPr lang="en-IN" dirty="0" err="1"/>
              <a:t>Arvindbhai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6858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rPr dirty="0"/>
              <a:t>SDG 4 — Quality Education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B929D4-CF2F-2866-7D53-8E849A4E672B}"/>
              </a:ext>
            </a:extLst>
          </p:cNvPr>
          <p:cNvSpPr/>
          <p:nvPr/>
        </p:nvSpPr>
        <p:spPr>
          <a:xfrm>
            <a:off x="8687105" y="3200400"/>
            <a:ext cx="3504895" cy="22860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CCFABA-9316-0BD5-39DB-33F16ADEDED8}"/>
              </a:ext>
            </a:extLst>
          </p:cNvPr>
          <p:cNvSpPr/>
          <p:nvPr/>
        </p:nvSpPr>
        <p:spPr>
          <a:xfrm>
            <a:off x="9692945" y="5486400"/>
            <a:ext cx="2499055" cy="13716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1058254-F969-403D-2DCF-24379FB2892B}"/>
              </a:ext>
            </a:extLst>
          </p:cNvPr>
          <p:cNvSpPr/>
          <p:nvPr/>
        </p:nvSpPr>
        <p:spPr>
          <a:xfrm>
            <a:off x="8686800" y="0"/>
            <a:ext cx="3504895" cy="18288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AF2DBB-B3A3-9DDF-6712-C950F109405B}"/>
              </a:ext>
            </a:extLst>
          </p:cNvPr>
          <p:cNvSpPr/>
          <p:nvPr/>
        </p:nvSpPr>
        <p:spPr>
          <a:xfrm>
            <a:off x="9692640" y="1828800"/>
            <a:ext cx="2499055" cy="13716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2345A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640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07080"/>
                </a:solidFill>
                <a:latin typeface="Aptos"/>
              </a:defRPr>
            </a:pPr>
            <a:r>
              <a:t>A student-friendly tool for explanations, practice, and progress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18288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18288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81051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345A"/>
                </a:solidFill>
                <a:latin typeface="Aptos"/>
              </a:defRPr>
            </a:pPr>
            <a:r>
              <a:t>Project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67712"/>
            <a:ext cx="306324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Educational technology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Artificial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29000" cy="18288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73152" cy="18288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81051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345A"/>
                </a:solidFill>
                <a:latin typeface="Aptos"/>
              </a:defRPr>
            </a:pPr>
            <a:r>
              <a:t>Primary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67712"/>
            <a:ext cx="306324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School students and college learners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29000" cy="18288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73152" cy="18288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81051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345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267712"/>
            <a:ext cx="306324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Explain a topic, practise it, and recommend what to revise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69080"/>
            <a:ext cx="10698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100" b="0">
                <a:solidFill>
                  <a:srgbClr val="263238"/>
                </a:solidFill>
                <a:latin typeface="Aptos"/>
              </a:defRPr>
            </a:pPr>
            <a:r>
              <a:rPr dirty="0"/>
              <a:t>The project proposes a responsive web application that supports independent study. It is intended to complement teachers and trusted learning materials—not replace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rPr dirty="0"/>
              <a:t>AI Learning Tutor  |  SDG 4: Quality Education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96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838F0CC-412C-F3AE-4554-EE6F5DF4C77F}"/>
              </a:ext>
            </a:extLst>
          </p:cNvPr>
          <p:cNvSpPr/>
          <p:nvPr/>
        </p:nvSpPr>
        <p:spPr>
          <a:xfrm>
            <a:off x="8687105" y="3200400"/>
            <a:ext cx="3504895" cy="22860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D29F9E-4712-F4FB-4FFE-AC95B290EA52}"/>
              </a:ext>
            </a:extLst>
          </p:cNvPr>
          <p:cNvSpPr/>
          <p:nvPr/>
        </p:nvSpPr>
        <p:spPr>
          <a:xfrm>
            <a:off x="9692945" y="5486400"/>
            <a:ext cx="2499055" cy="13716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2345A"/>
                </a:solidFill>
                <a:latin typeface="Aptos"/>
              </a:defRPr>
            </a:pPr>
            <a:r>
              <a:t>Selected Sustainable Development 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640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07080"/>
                </a:solidFill>
                <a:latin typeface="Aptos"/>
              </a:defRPr>
            </a:pPr>
            <a:r>
              <a:t>SDG 4: Quality Education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2926080" cy="329184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73152" cy="329184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81051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2345A"/>
                </a:solidFill>
                <a:latin typeface="Aptos"/>
              </a:defRPr>
            </a:pPr>
            <a:r>
              <a:t>Why SDG 4?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67712"/>
            <a:ext cx="256032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The reference PDF suggests AI-based personalized learning and quizzes tailored to student performance as possible project directions.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645920"/>
            <a:ext cx="2926080" cy="329184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69080" y="1645920"/>
            <a:ext cx="73152" cy="329184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70248" y="181051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2345A"/>
                </a:solidFill>
                <a:latin typeface="Aptos"/>
              </a:defRPr>
            </a:pPr>
            <a:r>
              <a:t>Project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2267712"/>
            <a:ext cx="256032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Make extra learning support easier to access through clear explanations, guided practice, and revision recommendations.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645920"/>
            <a:ext cx="3657600" cy="329184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1645920"/>
            <a:ext cx="73152" cy="329184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181051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2345A"/>
                </a:solidFill>
                <a:latin typeface="Aptos"/>
              </a:defRPr>
            </a:pPr>
            <a:r>
              <a:t>How we will 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2267712"/>
            <a:ext cx="329184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Use a pilot to measure lesson completion, quiz-score changes, learner feedback, and reported content issues.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607080"/>
                </a:solidFill>
                <a:latin typeface="Aptos"/>
              </a:defRPr>
            </a:pPr>
            <a:r>
              <a:t>Impact claims will be made only after collecting and reviewing pilot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AI Learning Tutor  |  SDG 4: Quality Education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96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2345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640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07080"/>
                </a:solidFill>
                <a:latin typeface="Aptos"/>
              </a:defRPr>
            </a:pPr>
            <a:r>
              <a:t>Learning needs vary, but individual support is not always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72184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63238"/>
                </a:solidFill>
                <a:latin typeface="Aptos"/>
              </a:defRPr>
            </a:pPr>
            <a:r>
              <a:rPr dirty="0"/>
              <a:t>•  Students learn at different speeds and have different levels of prior knowledge.</a:t>
            </a:r>
          </a:p>
          <a:p>
            <a:pPr>
              <a:spcAft>
                <a:spcPts val="1300"/>
              </a:spcAft>
              <a:defRPr sz="2100">
                <a:solidFill>
                  <a:srgbClr val="263238"/>
                </a:solidFill>
                <a:latin typeface="Aptos"/>
              </a:defRPr>
            </a:pPr>
            <a:r>
              <a:rPr dirty="0"/>
              <a:t>•  Learners may not receive immediate clarification when studying independently.</a:t>
            </a:r>
          </a:p>
          <a:p>
            <a:pPr>
              <a:spcAft>
                <a:spcPts val="1300"/>
              </a:spcAft>
              <a:defRPr sz="2100">
                <a:solidFill>
                  <a:srgbClr val="263238"/>
                </a:solidFill>
                <a:latin typeface="Aptos"/>
              </a:defRPr>
            </a:pPr>
            <a:r>
              <a:rPr dirty="0"/>
              <a:t>•  Finding useful explanations and practice across multiple resources can be time-consuming.</a:t>
            </a:r>
          </a:p>
          <a:p>
            <a:pPr>
              <a:spcAft>
                <a:spcPts val="1300"/>
              </a:spcAft>
              <a:defRPr sz="2100">
                <a:solidFill>
                  <a:srgbClr val="263238"/>
                </a:solidFill>
                <a:latin typeface="Aptos"/>
              </a:defRPr>
            </a:pPr>
            <a:r>
              <a:rPr dirty="0"/>
              <a:t>•  Students may not know which topics they should revise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5780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2345A"/>
                </a:solidFill>
                <a:latin typeface="Aptos"/>
              </a:defRPr>
            </a:pPr>
            <a:r>
              <a:t>Problem statement: Students need affordable, clear, and personalized learning support with guided practice and revision guidance.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AI Learning Tutor  |  SDG 4: Quality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96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5644EF7-4EB6-A841-7413-DB16EACE93F9}"/>
              </a:ext>
            </a:extLst>
          </p:cNvPr>
          <p:cNvSpPr/>
          <p:nvPr/>
        </p:nvSpPr>
        <p:spPr>
          <a:xfrm>
            <a:off x="8686800" y="0"/>
            <a:ext cx="3504895" cy="18288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1B74D7-DB25-CD17-2001-0BB9C8F5B535}"/>
              </a:ext>
            </a:extLst>
          </p:cNvPr>
          <p:cNvSpPr/>
          <p:nvPr/>
        </p:nvSpPr>
        <p:spPr>
          <a:xfrm>
            <a:off x="9692640" y="1828800"/>
            <a:ext cx="2499055" cy="13716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0FE6E1-C3C6-16CA-0550-09B6FF280CA1}"/>
              </a:ext>
            </a:extLst>
          </p:cNvPr>
          <p:cNvSpPr/>
          <p:nvPr/>
        </p:nvSpPr>
        <p:spPr>
          <a:xfrm>
            <a:off x="8687105" y="3200400"/>
            <a:ext cx="3504895" cy="22860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63EE2D6-DBBF-79DD-0C08-0564ED0F8377}"/>
              </a:ext>
            </a:extLst>
          </p:cNvPr>
          <p:cNvSpPr/>
          <p:nvPr/>
        </p:nvSpPr>
        <p:spPr>
          <a:xfrm>
            <a:off x="9692945" y="5486400"/>
            <a:ext cx="2499055" cy="13716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2345A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640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07080"/>
                </a:solidFill>
                <a:latin typeface="Aptos"/>
              </a:defRPr>
            </a:pPr>
            <a:r>
              <a:t>One learning flow from explanation to revision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606040" cy="22860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73152" cy="22860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0512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345A"/>
                </a:solidFill>
                <a:latin typeface="Aptos"/>
              </a:defRPr>
            </a:pPr>
            <a:r>
              <a:t>1. Learn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67712"/>
            <a:ext cx="2240280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Choose a subject and topic; receive a structured explanation with examples.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645920"/>
            <a:ext cx="2606040" cy="22860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0" y="1645920"/>
            <a:ext cx="73152" cy="22860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1810512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345A"/>
                </a:solidFill>
                <a:latin typeface="Aptos"/>
              </a:defRPr>
            </a:pPr>
            <a:r>
              <a:t>2. Practise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267712"/>
            <a:ext cx="2240280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Answer short quizzes and get feedback on responses.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45920"/>
            <a:ext cx="2606040" cy="22860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645920"/>
            <a:ext cx="73152" cy="2286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1810512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345A"/>
                </a:solidFill>
                <a:latin typeface="Aptos"/>
              </a:defRPr>
            </a:pPr>
            <a:r>
              <a:t>3.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267712"/>
            <a:ext cx="2240280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Identify weaker topics and receive revision suggestions.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645920"/>
            <a:ext cx="2286000" cy="22860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89720" y="1645920"/>
            <a:ext cx="73152" cy="22860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90888" y="181051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2345A"/>
                </a:solidFill>
                <a:latin typeface="Aptos"/>
              </a:defRPr>
            </a:pPr>
            <a:r>
              <a:t>4.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2267712"/>
            <a:ext cx="1920240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See completed activities and progress over 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263238"/>
                </a:solidFill>
                <a:latin typeface="Aptos"/>
              </a:defRPr>
            </a:pPr>
            <a:r>
              <a:t>The first version should focus on a small set of subjects and topics so that usefulness and content quality can be tested before expansion.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AI Learning Tutor  |  SDG 4: Quality Education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96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CBCE678-F340-1FEA-26E5-95133506EB23}"/>
              </a:ext>
            </a:extLst>
          </p:cNvPr>
          <p:cNvSpPr/>
          <p:nvPr/>
        </p:nvSpPr>
        <p:spPr>
          <a:xfrm>
            <a:off x="8686800" y="0"/>
            <a:ext cx="3504895" cy="18288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71CBF0-F580-6224-8B26-1DD4837F948D}"/>
              </a:ext>
            </a:extLst>
          </p:cNvPr>
          <p:cNvSpPr/>
          <p:nvPr/>
        </p:nvSpPr>
        <p:spPr>
          <a:xfrm>
            <a:off x="9692640" y="1828800"/>
            <a:ext cx="2499055" cy="13716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757626-0C28-281E-3751-4208AF9B20AF}"/>
              </a:ext>
            </a:extLst>
          </p:cNvPr>
          <p:cNvSpPr/>
          <p:nvPr/>
        </p:nvSpPr>
        <p:spPr>
          <a:xfrm>
            <a:off x="8687105" y="3200400"/>
            <a:ext cx="3504895" cy="22860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2EABB1-34A8-BD3A-A336-94457E45E7AB}"/>
              </a:ext>
            </a:extLst>
          </p:cNvPr>
          <p:cNvSpPr/>
          <p:nvPr/>
        </p:nvSpPr>
        <p:spPr>
          <a:xfrm>
            <a:off x="9692945" y="5486400"/>
            <a:ext cx="2499055" cy="13716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2345A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640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07080"/>
                </a:solidFill>
                <a:latin typeface="Aptos"/>
              </a:defRPr>
            </a:pPr>
            <a:r>
              <a:t>Suggested minimum viable product (MVP)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Topic-based explanations with examples and learner-selected difficulty.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Practice quizzes with instant feedback and answer explanations.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Personalized revision suggestions based on recent quiz results.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Progress dashboard showing completed lessons and scores.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Mobile-friendly interface with readable layouts and simple language.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Feedback option to report incorrect or unclear content.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AI Learning Tutor  |  SDG 4: Quality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184DEB7E-3FD9-AC73-5CD4-D0BDA78197F8}"/>
              </a:ext>
            </a:extLst>
          </p:cNvPr>
          <p:cNvSpPr/>
          <p:nvPr/>
        </p:nvSpPr>
        <p:spPr>
          <a:xfrm>
            <a:off x="8686800" y="0"/>
            <a:ext cx="3504895" cy="18288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F2ECFF7-1BF9-ED4E-4C7D-1CD44949639F}"/>
              </a:ext>
            </a:extLst>
          </p:cNvPr>
          <p:cNvSpPr/>
          <p:nvPr/>
        </p:nvSpPr>
        <p:spPr>
          <a:xfrm>
            <a:off x="9692640" y="1828800"/>
            <a:ext cx="2499055" cy="13716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3605867-4A0F-6DF9-7053-DDF8F9BEB550}"/>
              </a:ext>
            </a:extLst>
          </p:cNvPr>
          <p:cNvSpPr/>
          <p:nvPr/>
        </p:nvSpPr>
        <p:spPr>
          <a:xfrm>
            <a:off x="8687105" y="3200400"/>
            <a:ext cx="3504895" cy="22860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448F440-E2E3-BF48-2CE2-F5D0B8DD5637}"/>
              </a:ext>
            </a:extLst>
          </p:cNvPr>
          <p:cNvSpPr/>
          <p:nvPr/>
        </p:nvSpPr>
        <p:spPr>
          <a:xfrm>
            <a:off x="9692945" y="5486400"/>
            <a:ext cx="2499055" cy="13716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2345A"/>
                </a:solidFill>
                <a:latin typeface="Aptos"/>
              </a:defRPr>
            </a:pPr>
            <a:r>
              <a:t>User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640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07080"/>
                </a:solidFill>
                <a:latin typeface="Aptos"/>
              </a:defRPr>
            </a:pPr>
            <a:r>
              <a:t>A simple, repeatable learning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150876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331720"/>
            <a:ext cx="73152" cy="16002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2496312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12345A"/>
                </a:solidFill>
                <a:latin typeface="Aptos"/>
              </a:defRPr>
            </a:pPr>
            <a:r>
              <a:t>1. Choose subject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953512"/>
            <a:ext cx="1143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and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7" y="2880360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234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2" y="2331720"/>
            <a:ext cx="150876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50592" y="2331720"/>
            <a:ext cx="73152" cy="16002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2496312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12345A"/>
                </a:solidFill>
                <a:latin typeface="Aptos"/>
              </a:defRPr>
            </a:pPr>
            <a:r>
              <a:t>2. Read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953512"/>
            <a:ext cx="1143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and 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880360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234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8264" y="2331720"/>
            <a:ext cx="150876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98264" y="2331720"/>
            <a:ext cx="73152" cy="16002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9431" y="2496312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12345A"/>
                </a:solidFill>
                <a:latin typeface="Aptos"/>
              </a:defRPr>
            </a:pPr>
            <a:r>
              <a:t>3. 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2953512"/>
            <a:ext cx="1143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practice quiz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2880360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234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5936" y="2331720"/>
            <a:ext cx="150876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45936" y="2331720"/>
            <a:ext cx="73152" cy="16002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7104" y="2496312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12345A"/>
                </a:solidFill>
                <a:latin typeface="Aptos"/>
              </a:defRPr>
            </a:pPr>
            <a:r>
              <a:t>4. Review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2953512"/>
            <a:ext cx="1143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and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2880360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234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93608" y="2331720"/>
            <a:ext cx="150876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93608" y="2331720"/>
            <a:ext cx="73152" cy="16002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94776" y="2496312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12345A"/>
                </a:solidFill>
                <a:latin typeface="Aptos"/>
              </a:defRPr>
            </a:pPr>
            <a:r>
              <a:t>5. Get revision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53512"/>
            <a:ext cx="1143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0656" y="2880360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234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0" y="2331720"/>
            <a:ext cx="150876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241280" y="2331720"/>
            <a:ext cx="73152" cy="16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42448" y="2496312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12345A"/>
                </a:solidFill>
                <a:latin typeface="Aptos"/>
              </a:defRPr>
            </a:pPr>
            <a:r>
              <a:t>6. Track progress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42448" y="2953512"/>
            <a:ext cx="11430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63238"/>
                </a:solidFill>
                <a:latin typeface="Aptos"/>
              </a:defRPr>
            </a:pPr>
            <a:r>
              <a:t>and repeat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7091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607080"/>
                </a:solidFill>
                <a:latin typeface="Aptos"/>
              </a:defRPr>
            </a:pPr>
            <a:r>
              <a:t>Optional later extension: regional-language explanations and educator dashboards.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967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AI Learning Tutor  |  SDG 4: Quality Education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196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2345A"/>
                </a:solidFill>
                <a:latin typeface="Aptos"/>
              </a:defRPr>
            </a:pPr>
            <a:r>
              <a:t>Lean Canvas — Business and Project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640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07080"/>
                </a:solidFill>
                <a:latin typeface="Aptos"/>
              </a:defRPr>
            </a:pPr>
            <a:r>
              <a:t>Initial hypotheses to validate with learners and educators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2331720" cy="169164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3152" cy="169164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2345A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76272"/>
            <a:ext cx="196596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63238"/>
                </a:solidFill>
                <a:latin typeface="Aptos"/>
              </a:defRPr>
            </a:pPr>
            <a:r>
              <a:t>Limited individual support; varied learning gaps.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554480"/>
            <a:ext cx="2331720" cy="169164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0" y="1554480"/>
            <a:ext cx="73152" cy="169164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1719072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2345A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176272"/>
            <a:ext cx="196596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63238"/>
                </a:solidFill>
                <a:latin typeface="Aptos"/>
              </a:defRPr>
            </a:pPr>
            <a:r>
              <a:t>Explanations, quizzes, progress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54480"/>
            <a:ext cx="2331720" cy="169164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554480"/>
            <a:ext cx="73152" cy="169164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1719072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2345A"/>
                </a:solidFill>
                <a:latin typeface="Aptos"/>
              </a:defRPr>
            </a:pPr>
            <a:r>
              <a:t>Value proposition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176272"/>
            <a:ext cx="196596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63238"/>
                </a:solidFill>
                <a:latin typeface="Aptos"/>
              </a:defRPr>
            </a:pPr>
            <a:r>
              <a:t>A learning companion that explains, practises, and adapts.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554480"/>
            <a:ext cx="2331720" cy="169164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89720" y="1554480"/>
            <a:ext cx="73152" cy="169164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90888" y="1719072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2345A"/>
                </a:solidFill>
                <a:latin typeface="Aptos"/>
              </a:defRPr>
            </a:pPr>
            <a:r>
              <a:t>Customer segments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2176272"/>
            <a:ext cx="196596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63238"/>
                </a:solidFill>
                <a:latin typeface="Aptos"/>
              </a:defRPr>
            </a:pPr>
            <a:r>
              <a:t>Students; potential institutional buyers include schools and colleges.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57600"/>
            <a:ext cx="2331720" cy="169164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657600"/>
            <a:ext cx="73152" cy="169164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3822191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2345A"/>
                </a:solidFill>
                <a:latin typeface="Aptos"/>
              </a:defRPr>
            </a:pPr>
            <a:r>
              <a:t>Channels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279392"/>
            <a:ext cx="196596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63238"/>
                </a:solidFill>
                <a:latin typeface="Aptos"/>
              </a:defRPr>
            </a:pPr>
            <a:r>
              <a:t>School/college demos, educators, student groups, website and referrals.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3657600"/>
            <a:ext cx="2331720" cy="169164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520440" y="3657600"/>
            <a:ext cx="73152" cy="169164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21608" y="3822191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2345A"/>
                </a:solidFill>
                <a:latin typeface="Aptos"/>
              </a:defRPr>
            </a:pPr>
            <a:r>
              <a:t>Key 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8" y="4279392"/>
            <a:ext cx="196596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63238"/>
                </a:solidFill>
                <a:latin typeface="Aptos"/>
              </a:defRPr>
            </a:pPr>
            <a:r>
              <a:t>Active learners, lesson completion, quiz improvement, retention, satisfaction.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657600"/>
            <a:ext cx="2331720" cy="169164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55080" y="3657600"/>
            <a:ext cx="73152" cy="169164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56248" y="3822191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2345A"/>
                </a:solidFill>
                <a:latin typeface="Aptos"/>
              </a:defRPr>
            </a:pPr>
            <a:r>
              <a:t>Costs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4279392"/>
            <a:ext cx="196596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63238"/>
                </a:solidFill>
                <a:latin typeface="Aptos"/>
              </a:defRPr>
            </a:pPr>
            <a:r>
              <a:t>Development, hosting, AI usage, content review, privacy and support.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3657600"/>
            <a:ext cx="2331720" cy="169164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3657600"/>
            <a:ext cx="73152" cy="169164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90888" y="3822191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2345A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0888" y="4279392"/>
            <a:ext cx="196596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63238"/>
                </a:solidFill>
                <a:latin typeface="Aptos"/>
              </a:defRPr>
            </a:pPr>
            <a:r>
              <a:t>Free basic plan; possible premium or institutional model, subject to validation.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967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AI Learning Tutor  |  SDG 4: Quality Education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196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2345A"/>
                </a:solidFill>
                <a:latin typeface="Aptos"/>
              </a:defRPr>
            </a:pPr>
            <a:r>
              <a:t>Target Users and Early Adopters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640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07080"/>
                </a:solidFill>
                <a:latin typeface="Aptos"/>
              </a:defRPr>
            </a:pPr>
            <a:r>
              <a:t>Begin with a focused 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291840" cy="310896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73152" cy="310896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85623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2345A"/>
                </a:solidFill>
                <a:latin typeface="Aptos"/>
              </a:defRPr>
            </a:pPr>
            <a:r>
              <a:t>Primary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13432"/>
            <a:ext cx="2926080" cy="2359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t>School students and college learners who want additional explanations and practice.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291840" cy="310896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691640"/>
            <a:ext cx="73152" cy="310896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85623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2345A"/>
                </a:solidFill>
                <a:latin typeface="Aptos"/>
              </a:defRPr>
            </a:pPr>
            <a:r>
              <a:t>Supporting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313432"/>
            <a:ext cx="2926080" cy="2359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t>Teachers, tutors and learning centres that can review content and guide revision.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291840" cy="310896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691640"/>
            <a:ext cx="73152" cy="310896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85623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2345A"/>
                </a:solidFill>
                <a:latin typeface="Aptos"/>
              </a:defRPr>
            </a:pPr>
            <a:r>
              <a:t>Early adopters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313432"/>
            <a:ext cx="2926080" cy="2359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t>Students already using digital learning tools and educators interested in personalized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607080"/>
                </a:solidFill>
                <a:latin typeface="Aptos"/>
              </a:defRPr>
            </a:pPr>
            <a:r>
              <a:t>Recruit a small voluntary pilot group and use feedback to refine the product.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AI Learning Tutor  |  SDG 4: Quality Education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96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92AD186-39ED-1193-EE5C-0F578C1E9734}"/>
              </a:ext>
            </a:extLst>
          </p:cNvPr>
          <p:cNvSpPr/>
          <p:nvPr/>
        </p:nvSpPr>
        <p:spPr>
          <a:xfrm>
            <a:off x="8686800" y="0"/>
            <a:ext cx="3504895" cy="18288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B21522-1356-E73D-7F95-5C4E0E258D4C}"/>
              </a:ext>
            </a:extLst>
          </p:cNvPr>
          <p:cNvSpPr/>
          <p:nvPr/>
        </p:nvSpPr>
        <p:spPr>
          <a:xfrm>
            <a:off x="9692640" y="1828800"/>
            <a:ext cx="2499055" cy="13716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3EBDD9-34AD-AA3F-A65A-357AEF300E10}"/>
              </a:ext>
            </a:extLst>
          </p:cNvPr>
          <p:cNvSpPr/>
          <p:nvPr/>
        </p:nvSpPr>
        <p:spPr>
          <a:xfrm>
            <a:off x="8687105" y="3200400"/>
            <a:ext cx="3504895" cy="22860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D65746-948C-4A9A-6B3C-85AD93A21A33}"/>
              </a:ext>
            </a:extLst>
          </p:cNvPr>
          <p:cNvSpPr/>
          <p:nvPr/>
        </p:nvSpPr>
        <p:spPr>
          <a:xfrm>
            <a:off x="9692945" y="5486400"/>
            <a:ext cx="2499055" cy="13716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2345A"/>
                </a:solidFill>
                <a:latin typeface="Aptos"/>
              </a:defRPr>
            </a:pPr>
            <a:r>
              <a:t>Implementation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640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07080"/>
                </a:solidFill>
                <a:latin typeface="Aptos"/>
              </a:defRPr>
            </a:pPr>
            <a:r>
              <a:t>Build, test, learn, and improve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10241280" cy="6858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508760"/>
            <a:ext cx="73152" cy="6858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1673351"/>
            <a:ext cx="9875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2345A"/>
                </a:solidFill>
                <a:latin typeface="Aptos"/>
              </a:defRPr>
            </a:pPr>
            <a:r>
              <a:t>Phase 1 — 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130552"/>
            <a:ext cx="9875519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63238"/>
                </a:solidFill>
                <a:latin typeface="Aptos"/>
              </a:defRPr>
            </a:pPr>
            <a:r>
              <a:t>Interview learners and educators; choose initial subjects.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50008"/>
            <a:ext cx="10241280" cy="6858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2350008"/>
            <a:ext cx="73152" cy="6858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514600"/>
            <a:ext cx="9875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2345A"/>
                </a:solidFill>
                <a:latin typeface="Aptos"/>
              </a:defRPr>
            </a:pPr>
            <a:r>
              <a:t>Phase 2 —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971800"/>
            <a:ext cx="9875519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63238"/>
                </a:solidFill>
                <a:latin typeface="Aptos"/>
              </a:defRPr>
            </a:pPr>
            <a:r>
              <a:t>Build topic library, quiz flow, and progress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91256"/>
            <a:ext cx="10241280" cy="6858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3191256"/>
            <a:ext cx="73152" cy="6858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3355848"/>
            <a:ext cx="9875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2345A"/>
                </a:solidFill>
                <a:latin typeface="Aptos"/>
              </a:defRPr>
            </a:pPr>
            <a:r>
              <a:t>Phase 3 — AI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813048"/>
            <a:ext cx="9875519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63238"/>
                </a:solidFill>
                <a:latin typeface="Aptos"/>
              </a:defRPr>
            </a:pPr>
            <a:r>
              <a:t>Add AI explanations with guardrails and content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32504"/>
            <a:ext cx="10241280" cy="6858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4032504"/>
            <a:ext cx="73152" cy="6858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" y="4197096"/>
            <a:ext cx="9875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2345A"/>
                </a:solidFill>
                <a:latin typeface="Aptos"/>
              </a:defRPr>
            </a:pPr>
            <a:r>
              <a:t>Phase 4 —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654296"/>
            <a:ext cx="9875519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63238"/>
                </a:solidFill>
                <a:latin typeface="Aptos"/>
              </a:defRPr>
            </a:pPr>
            <a:r>
              <a:t>Test with a small group and collect feedback and quiz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873752"/>
            <a:ext cx="10241280" cy="68580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4873752"/>
            <a:ext cx="73152" cy="6858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15568" y="5038344"/>
            <a:ext cx="9875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2345A"/>
                </a:solidFill>
                <a:latin typeface="Aptos"/>
              </a:defRPr>
            </a:pPr>
            <a:r>
              <a:t>Phase 5 — Improve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495544"/>
            <a:ext cx="9875519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63238"/>
                </a:solidFill>
                <a:latin typeface="Aptos"/>
              </a:defRPr>
            </a:pPr>
            <a:r>
              <a:t>Fix issues and decide whether to expand subjects or languages.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AI Learning Tutor  |  SDG 4: Quality Education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96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2345A"/>
                </a:solidFill>
                <a:latin typeface="Aptos"/>
              </a:defRPr>
            </a:pPr>
            <a:r>
              <a:t>Proposed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640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07080"/>
                </a:solidFill>
                <a:latin typeface="Aptos"/>
              </a:defRPr>
            </a:pPr>
            <a:r>
              <a:t>A possible implementation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246888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73152" cy="246888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9019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2345A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59152"/>
            <a:ext cx="2926080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React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Responsive interface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Topic and quiz screens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291840" cy="246888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737360"/>
            <a:ext cx="73152" cy="246888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9019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2345A"/>
                </a:solidFill>
                <a:latin typeface="Aptos"/>
              </a:defRPr>
            </a:pPr>
            <a:r>
              <a:t>Backend and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359152"/>
            <a:ext cx="2926080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Node.js / Express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Database for user progress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API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291840" cy="246888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737360"/>
            <a:ext cx="73152" cy="246888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9019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2345A"/>
                </a:solidFill>
                <a:latin typeface="Aptos"/>
              </a:defRPr>
            </a:pPr>
            <a:r>
              <a:t>AI and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359152"/>
            <a:ext cx="2926080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AI API for explanations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Topic-focused prompts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Review and reporting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07080"/>
                </a:solidFill>
                <a:latin typeface="Aptos"/>
              </a:defRPr>
            </a:pPr>
            <a:r>
              <a:t>This stack is a proposed option for the project, not a requirement specified by the reference PDF.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AI Learning Tutor  |  SDG 4: Quality Education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96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AD894E9-D5DF-3076-994E-710438D6488F}"/>
              </a:ext>
            </a:extLst>
          </p:cNvPr>
          <p:cNvSpPr/>
          <p:nvPr/>
        </p:nvSpPr>
        <p:spPr>
          <a:xfrm>
            <a:off x="8686800" y="0"/>
            <a:ext cx="3504895" cy="18288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30427F-A50A-72EE-0F81-C9277E1443AF}"/>
              </a:ext>
            </a:extLst>
          </p:cNvPr>
          <p:cNvSpPr/>
          <p:nvPr/>
        </p:nvSpPr>
        <p:spPr>
          <a:xfrm>
            <a:off x="9692640" y="1828800"/>
            <a:ext cx="2499055" cy="13716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AC7FF5-5FA9-B615-C18D-58D043B18663}"/>
              </a:ext>
            </a:extLst>
          </p:cNvPr>
          <p:cNvSpPr/>
          <p:nvPr/>
        </p:nvSpPr>
        <p:spPr>
          <a:xfrm>
            <a:off x="8687105" y="3200400"/>
            <a:ext cx="3504895" cy="228600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87FC00-9147-54FC-602F-0E8690A538B5}"/>
              </a:ext>
            </a:extLst>
          </p:cNvPr>
          <p:cNvSpPr/>
          <p:nvPr/>
        </p:nvSpPr>
        <p:spPr>
          <a:xfrm>
            <a:off x="9692945" y="5486400"/>
            <a:ext cx="2499055" cy="13716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2345A"/>
                </a:solidFill>
                <a:latin typeface="Aptos"/>
              </a:defRPr>
            </a:pPr>
            <a:r>
              <a:t>Monitoring and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640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07080"/>
                </a:solidFill>
                <a:latin typeface="Aptos"/>
              </a:defRPr>
            </a:pPr>
            <a:r>
              <a:t>Measure outcomes rather than assume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 Weekly active learners and number of lessons completed.</a:t>
            </a:r>
          </a:p>
          <a:p>
            <a:pPr>
              <a:spcAft>
                <a:spcPts val="13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 Percentage of learners completing a quiz after a lesson.</a:t>
            </a:r>
          </a:p>
          <a:p>
            <a:pPr>
              <a:spcAft>
                <a:spcPts val="13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 Change between a baseline quiz and a comparable follow-up quiz.</a:t>
            </a:r>
          </a:p>
          <a:p>
            <a:pPr>
              <a:spcAft>
                <a:spcPts val="13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 Learner-reported clarity and usefulness from a short feedback form.</a:t>
            </a:r>
          </a:p>
          <a:p>
            <a:pPr>
              <a:spcAft>
                <a:spcPts val="13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 Number of reported content issues and percentage resolved.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2345A"/>
                </a:solidFill>
                <a:latin typeface="Aptos"/>
              </a:defRPr>
            </a:pPr>
            <a:r>
              <a:t>Report sample size, time period, and limitations alongside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AI Learning Tutor  |  SDG 4: Quality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96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2345A"/>
                </a:solidFill>
                <a:latin typeface="Aptos"/>
              </a:defRPr>
            </a:pPr>
            <a:r>
              <a:t>Risks, Ethics, and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640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07080"/>
                </a:solidFill>
                <a:latin typeface="Aptos"/>
              </a:defRPr>
            </a:pPr>
            <a:r>
              <a:t>Responsible use is part of the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074920" cy="155448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73152" cy="155448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856232"/>
            <a:ext cx="47091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2345A"/>
                </a:solidFill>
                <a:latin typeface="Aptos"/>
              </a:defRPr>
            </a:pPr>
            <a:r>
              <a:t>Incorrect AI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13432"/>
            <a:ext cx="4709159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Bound topic scope, review content, and allow users to report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691640"/>
            <a:ext cx="5074920" cy="155448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79" y="1691640"/>
            <a:ext cx="73152" cy="155448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7" y="1856232"/>
            <a:ext cx="47091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2345A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7" y="2313432"/>
            <a:ext cx="4709159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Collect only necessary data and explain storage and deletion.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57600"/>
            <a:ext cx="5074920" cy="155448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657600"/>
            <a:ext cx="73152" cy="155448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3822191"/>
            <a:ext cx="47091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2345A"/>
                </a:solidFill>
                <a:latin typeface="Aptos"/>
              </a:defRPr>
            </a:pPr>
            <a:r>
              <a:t>Over-reliance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279392"/>
            <a:ext cx="4709159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Encourage independent attempts and use alongside teachers and trusted resources.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3657600"/>
            <a:ext cx="5074920" cy="155448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79" y="3657600"/>
            <a:ext cx="73152" cy="155448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56247" y="3822191"/>
            <a:ext cx="47091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2345A"/>
                </a:solidFill>
                <a:latin typeface="Aptos"/>
              </a:defRPr>
            </a:pPr>
            <a:r>
              <a:t>Unequal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7" y="4279392"/>
            <a:ext cx="4709159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Design for mobile screens and lower-bandwidth use where practical.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AI Learning Tutor  |  SDG 4: Quality Education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96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2345A"/>
                </a:solidFill>
                <a:latin typeface="Aptos"/>
              </a:defRPr>
            </a:pPr>
            <a:r>
              <a:t>Sustainability and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640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07080"/>
                </a:solidFill>
                <a:latin typeface="Aptos"/>
              </a:defRPr>
            </a:pPr>
            <a:r>
              <a:t>Start small and validate affordability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291840" cy="301752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73152" cy="3017520"/>
          </a:xfrm>
          <a:prstGeom prst="rect">
            <a:avLst/>
          </a:prstGeom>
          <a:solidFill>
            <a:srgbClr val="23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85623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2345A"/>
                </a:solidFill>
                <a:latin typeface="Aptos"/>
              </a:defRPr>
            </a:pPr>
            <a:r>
              <a:t>Possible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13432"/>
            <a:ext cx="292608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Free basic experience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Optional affordable premium plan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Institutional subscriptions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Sponsored access or grants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291840" cy="301752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691640"/>
            <a:ext cx="73152" cy="301752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85623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2345A"/>
                </a:solidFill>
                <a:latin typeface="Aptos"/>
              </a:defRPr>
            </a:pPr>
            <a:r>
              <a:t>Potential extensions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313432"/>
            <a:ext cx="292608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Regional-language explanations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More subjects and topics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Educator dashboard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Additional accessibility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291840" cy="3017520"/>
          </a:xfrm>
          <a:prstGeom prst="roundRect">
            <a:avLst/>
          </a:prstGeom>
          <a:solidFill>
            <a:srgbClr val="F5F8FB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691640"/>
            <a:ext cx="73152" cy="30175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85623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2345A"/>
                </a:solidFill>
                <a:latin typeface="Aptos"/>
              </a:defRPr>
            </a:pPr>
            <a:r>
              <a:t>Validation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313432"/>
            <a:ext cx="292608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Willingness to pay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Cost of AI and hosting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Content quality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t>Learner retention and usefulness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607080"/>
                </a:solidFill>
                <a:latin typeface="Aptos"/>
              </a:defRPr>
            </a:pPr>
            <a:r>
              <a:t>Pricing and future features should follow pilot evidence and user feedback.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AI Learning Tutor  |  SDG 4: Quality Education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96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2345A"/>
                </a:solidFill>
                <a:latin typeface="Aptos"/>
              </a:defRPr>
            </a:pPr>
            <a:r>
              <a:t>Conclusion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640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07080"/>
                </a:solidFill>
                <a:latin typeface="Aptos"/>
              </a:defRPr>
            </a:pPr>
            <a:r>
              <a:t>A testable concept aligned with SDG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63238"/>
                </a:solidFill>
                <a:latin typeface="Aptos"/>
              </a:defRPr>
            </a:pPr>
            <a:r>
              <a:t>•  AI Learning Tutor combines explanations, quizzes, revision suggestions, and progress tracking.</a:t>
            </a:r>
          </a:p>
          <a:p>
            <a:pPr>
              <a:spcAft>
                <a:spcPts val="1300"/>
              </a:spcAft>
              <a:defRPr sz="2100">
                <a:solidFill>
                  <a:srgbClr val="263238"/>
                </a:solidFill>
                <a:latin typeface="Aptos"/>
              </a:defRPr>
            </a:pPr>
            <a:r>
              <a:t>•  The concept aligns with SDG 4 by exploring more accessible and personalized learning support.</a:t>
            </a:r>
          </a:p>
          <a:p>
            <a:pPr>
              <a:spcAft>
                <a:spcPts val="1300"/>
              </a:spcAft>
              <a:defRPr sz="2100">
                <a:solidFill>
                  <a:srgbClr val="263238"/>
                </a:solidFill>
                <a:latin typeface="Aptos"/>
              </a:defRPr>
            </a:pPr>
            <a:r>
              <a:t>•  Next: interview learners and educators, define a small topic scope, and build a prototype.</a:t>
            </a:r>
          </a:p>
          <a:p>
            <a:pPr>
              <a:spcAft>
                <a:spcPts val="1300"/>
              </a:spcAft>
              <a:defRPr sz="2100">
                <a:solidFill>
                  <a:srgbClr val="263238"/>
                </a:solidFill>
                <a:latin typeface="Aptos"/>
              </a:defRPr>
            </a:pPr>
            <a:r>
              <a:t>•  Evaluate usability and early learning indicators before expanding the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2368A0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AI Learning Tutor  |  SDG 4: Quality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96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2345A"/>
                </a:solidFill>
                <a:latin typeface="Aptos"/>
              </a:defRPr>
            </a:pPr>
            <a:r>
              <a:t>Reference and Notes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640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07080"/>
                </a:solidFill>
                <a:latin typeface="Aptos"/>
              </a:defRPr>
            </a:pPr>
            <a:r>
              <a:t>Basis of this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 Primary source: supplied IBM SkillsBuild PDF, “Masterclass 5: Creating Real Life Projects — Project Guidance and Creating a Lean Canvas.”</a:t>
            </a:r>
          </a:p>
          <a:p>
            <a:pPr>
              <a:spcAft>
                <a:spcPts val="13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 The reference shows the Lean Canvas structure and lists Lean Canvas PDF, Concept Note, and PowerPoint Presentation as deliverables.</a:t>
            </a:r>
          </a:p>
          <a:p>
            <a:pPr>
              <a:spcAft>
                <a:spcPts val="13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 The reference’s SDG 4 example includes personalized learning and quizzes based on student performance.</a:t>
            </a:r>
          </a:p>
          <a:p>
            <a:pPr>
              <a:spcAft>
                <a:spcPts val="13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 Project features, technology choices, metrics, and sustainability options here are proposed ideas that need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AI Learning Tutor  |  SDG 4: Quality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07080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10</TotalTime>
  <Words>1319</Words>
  <Application>Microsoft Office PowerPoint</Application>
  <PresentationFormat>Widescreen</PresentationFormat>
  <Paragraphs>203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Arial Nova Light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Dhruvik</dc:creator>
  <cp:keywords/>
  <dc:description>generated using python-pptx</dc:description>
  <cp:lastModifiedBy>MORADIYA AAYUSH</cp:lastModifiedBy>
  <cp:revision>3</cp:revision>
  <dcterms:created xsi:type="dcterms:W3CDTF">2013-01-27T09:14:16Z</dcterms:created>
  <dcterms:modified xsi:type="dcterms:W3CDTF">2026-10-12T09:04:05Z</dcterms:modified>
  <cp:category/>
</cp:coreProperties>
</file>